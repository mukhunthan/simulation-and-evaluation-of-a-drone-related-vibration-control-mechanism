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82" r:id="rId22"/>
    <p:sldId id="283" r:id="rId23"/>
    <p:sldId id="284" r:id="rId24"/>
    <p:sldId id="285" r:id="rId25"/>
    <p:sldId id="286" r:id="rId26"/>
  </p:sldIdLst>
  <p:sldSz cx="9144000" cy="6858000" type="screen4x3"/>
  <p:notesSz cx="6858000" cy="9144000"/>
  <p:embeddedFontLst>
    <p:embeddedFont>
      <p:font typeface="Archivo Narrow" pitchFamily="2" charset="77"/>
      <p:regular r:id="rId28"/>
      <p:bold r:id="rId29"/>
      <p:italic r:id="rId30"/>
      <p:boldItalic r:id="rId31"/>
    </p:embeddedFont>
    <p:embeddedFont>
      <p:font typeface="Archivo Narrow Medium" pitchFamily="2" charset="77"/>
      <p:regular r:id="rId32"/>
      <p:bold r:id="rId33"/>
      <p:italic r:id="rId34"/>
      <p:boldItalic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Georgia" panose="02040502050405020303" pitchFamily="18" charset="0"/>
      <p:regular r:id="rId40"/>
      <p:bold r:id="rId41"/>
      <p:italic r:id="rId42"/>
      <p:boldItalic r:id="rId43"/>
    </p:embeddedFont>
    <p:embeddedFont>
      <p:font typeface="IBM Plex Sans Condensed" panose="020F0502020204030204" pitchFamily="34" charset="0"/>
      <p:regular r:id="rId44"/>
      <p:bold r:id="rId45"/>
      <p:italic r:id="rId46"/>
      <p:boldItalic r:id="rId47"/>
    </p:embeddedFont>
    <p:embeddedFont>
      <p:font typeface="Yellowtail" panose="02000503000000000000" pitchFamily="2" charset="0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e371e8ac0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e371e8ac0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e371e8ac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e371e8ac0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e371e8ac0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e371e8ac0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e371e8ac0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e371e8ac0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e371e8ac0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e371e8ac0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e371e8ac0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e371e8ac0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e371e8ac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e371e8ac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e371e8ac0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e371e8ac0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e371e8ac0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e371e8ac0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e371e8ac0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e371e8ac0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e371e8ac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e371e8ac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e371e8ac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e371e8ac0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e371e8ac0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e371e8ac0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e371e8ac0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e371e8ac0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e371e8ac0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e371e8ac0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-7087" y="-30350"/>
            <a:ext cx="9156900" cy="7371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-6994" y="154075"/>
            <a:ext cx="9162600" cy="1282500"/>
          </a:xfrm>
          <a:prstGeom prst="roundRect">
            <a:avLst>
              <a:gd name="adj" fmla="val 1017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072663" y="-30350"/>
            <a:ext cx="651600" cy="1467000"/>
          </a:xfrm>
          <a:prstGeom prst="parallelogram">
            <a:avLst>
              <a:gd name="adj" fmla="val 57856"/>
            </a:avLst>
          </a:prstGeom>
          <a:solidFill>
            <a:srgbClr val="D2AE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5785500" y="-30350"/>
            <a:ext cx="2881500" cy="1488900"/>
          </a:xfrm>
          <a:prstGeom prst="parallelogram">
            <a:avLst>
              <a:gd name="adj" fmla="val 3392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-6994" y="6604519"/>
            <a:ext cx="9162600" cy="2598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-6994" y="5899575"/>
            <a:ext cx="9162600" cy="737100"/>
          </a:xfrm>
          <a:prstGeom prst="roundRect">
            <a:avLst>
              <a:gd name="adj" fmla="val 1017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285750" y="5899575"/>
            <a:ext cx="28575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Mission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Christ University is a nurturing ground for an individual’s holistic development to make effective contribution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to the society in a dynamic environment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3143250" y="5899575"/>
            <a:ext cx="2857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Vision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Excellence and Service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6429450" y="5899575"/>
            <a:ext cx="2237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Core Values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Faith in God |  Moral Uprightness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 Love of Fellow Beings |  Social Responsibility</a:t>
            </a:r>
            <a:br>
              <a:rPr lang="en-US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</a:br>
            <a:r>
              <a:rPr lang="en-US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Pursuit of Excellence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pic>
        <p:nvPicPr>
          <p:cNvPr id="28" name="Google Shape;2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65546" y="329612"/>
            <a:ext cx="2338945" cy="7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311700" y="4917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311700" y="1419388"/>
            <a:ext cx="8520600" cy="46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lvl="1" indent="-3937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L="2743200" lvl="5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L="3200400" lvl="6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L="3657600" lvl="7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L="4114800" lvl="8" indent="-3810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3"/>
          <p:cNvSpPr txBox="1"/>
          <p:nvPr/>
        </p:nvSpPr>
        <p:spPr>
          <a:xfrm>
            <a:off x="8688881" y="6515100"/>
            <a:ext cx="3996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311700" y="517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3999900" cy="4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832400" y="1536625"/>
            <a:ext cx="3999900" cy="4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517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53088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/>
          <p:nvPr/>
        </p:nvSpPr>
        <p:spPr>
          <a:xfrm>
            <a:off x="4572000" y="272150"/>
            <a:ext cx="4572000" cy="613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937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311700" y="5773325"/>
            <a:ext cx="59988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06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937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518309" y="725951"/>
            <a:ext cx="77439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>
            <a:off x="518309" y="2340131"/>
            <a:ext cx="77439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350"/>
              <a:buChar char="▪"/>
              <a:defRPr/>
            </a:lvl1pPr>
            <a:lvl2pPr marL="914400" lvl="1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marL="1371600" lvl="2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marL="1828800" lvl="3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252737" y="6215870"/>
            <a:ext cx="7344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17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356875"/>
            <a:ext cx="8520600" cy="47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 Condensed"/>
              <a:buChar char="●"/>
              <a:defRPr sz="28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BM Plex Sans Condensed"/>
              <a:buChar char="○"/>
              <a:defRPr sz="26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0" y="-9719"/>
            <a:ext cx="9144000" cy="2619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0" y="6615550"/>
            <a:ext cx="9144000" cy="2619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-37" y="6387300"/>
            <a:ext cx="9144000" cy="353400"/>
          </a:xfrm>
          <a:prstGeom prst="roundRect">
            <a:avLst>
              <a:gd name="adj" fmla="val 1666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1" name="Google Shape;11;p1"/>
          <p:cNvSpPr txBox="1"/>
          <p:nvPr/>
        </p:nvSpPr>
        <p:spPr>
          <a:xfrm rot="-614006">
            <a:off x="6626804" y="6371495"/>
            <a:ext cx="1377920" cy="67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sz="1600" b="0" i="0" u="none" strike="noStrike" cap="none">
              <a:solidFill>
                <a:srgbClr val="D2AE6C"/>
              </a:solidFill>
              <a:latin typeface="Yellowtail"/>
              <a:ea typeface="Yellowtail"/>
              <a:cs typeface="Yellowtail"/>
              <a:sym typeface="Yellowtail"/>
            </a:endParaRPr>
          </a:p>
        </p:txBody>
      </p:sp>
      <p:sp>
        <p:nvSpPr>
          <p:cNvPr id="12" name="Google Shape;12;p1"/>
          <p:cNvSpPr txBox="1"/>
          <p:nvPr/>
        </p:nvSpPr>
        <p:spPr>
          <a:xfrm rot="1893">
            <a:off x="4550955" y="6448425"/>
            <a:ext cx="2179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sz="1400" b="0" i="0" u="none" strike="noStrike" cap="none">
              <a:solidFill>
                <a:srgbClr val="CCCCC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415300" y="6408364"/>
            <a:ext cx="548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4">
            <a:alphaModFix amt="3000"/>
          </a:blip>
          <a:srcRect/>
          <a:stretch/>
        </p:blipFill>
        <p:spPr>
          <a:xfrm>
            <a:off x="6105188" y="2136400"/>
            <a:ext cx="2988495" cy="29766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0" y="725950"/>
            <a:ext cx="91440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16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and Evaluation of a Drone‑Related Vibration Control Mechanism</a:t>
            </a:r>
            <a:endParaRPr sz="2080" dirty="0"/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1"/>
          </p:nvPr>
        </p:nvSpPr>
        <p:spPr>
          <a:xfrm>
            <a:off x="518300" y="2340124"/>
            <a:ext cx="7743900" cy="3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22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 </a:t>
            </a:r>
            <a:r>
              <a:rPr lang="en-US" sz="22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Drone Technologies and its Transformative Applications</a:t>
            </a:r>
            <a:endParaRPr sz="1900" b="1"/>
          </a:p>
          <a:p>
            <a:pPr marL="0" lvl="0" indent="0" algn="l" rtl="0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-US" sz="22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Name: </a:t>
            </a:r>
            <a:r>
              <a:rPr lang="en-US" sz="22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Kanish Koushik - 2362867</a:t>
            </a:r>
            <a:br>
              <a:rPr lang="en-US" sz="22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  Mukhunthan   - 2362870</a:t>
            </a:r>
            <a:br>
              <a:rPr lang="en-US" sz="22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  Sidharth Sivan - 2362869</a:t>
            </a:r>
            <a:br>
              <a:rPr lang="en-US" sz="22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  Ganesh Reddy - 2362868</a:t>
            </a:r>
            <a:endParaRPr sz="1900" b="1"/>
          </a:p>
          <a:p>
            <a:pPr marL="0" lvl="0" indent="0" algn="l" rtl="0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-US" sz="22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Number:  </a:t>
            </a:r>
            <a:r>
              <a:rPr lang="en-US" sz="22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-US" sz="22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Institution: </a:t>
            </a:r>
            <a:r>
              <a:rPr lang="en-US" sz="22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Christ (Deemed to be University)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SzPts val="935"/>
              <a:buNone/>
            </a:pPr>
            <a:r>
              <a:rPr lang="en-US" sz="22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lang="en-US" sz="22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10-03-2026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518309" y="725951"/>
            <a:ext cx="77439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</a:t>
            </a:r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518309" y="2340131"/>
            <a:ext cx="77439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Design, simulate, and evaluate a vibration control mechanism for drone systems.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drone stability using vibration damping methods.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performance through simulation.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518309" y="725951"/>
            <a:ext cx="77439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518309" y="2340131"/>
            <a:ext cx="77439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2766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Drones are used in aerial photography, surveillance, agriculture monitoring, and delivery systems.</a:t>
            </a:r>
            <a:endParaRPr/>
          </a:p>
          <a:p>
            <a:pPr marL="342900" lvl="0" indent="-32766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flight, vibrations occur due to motors, propellers, and environmental disturbances.</a:t>
            </a:r>
            <a:endParaRPr/>
          </a:p>
          <a:p>
            <a:pPr marL="342900" lvl="0" indent="-32766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vibrations affect flight stability, sensors, and camera quality.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518309" y="725951"/>
            <a:ext cx="77439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518309" y="2340131"/>
            <a:ext cx="77439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Drone mechanical systems experience continuous vibrations.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Uncontrolled vibrations lead to instability and inaccurate sensor readings.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vibration damping system must be designed and analyzed.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518309" y="725951"/>
            <a:ext cx="77439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Vibration Control Mechanisms</a:t>
            </a:r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518309" y="2340131"/>
            <a:ext cx="77439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Rubber Dampers – absorb vibrations using flexible mounts.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Spring‑Damper System – reduces oscillations using springs and dampers.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Viscoelastic Materials – dissipate vibration energy.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518309" y="725951"/>
            <a:ext cx="77439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Mathematical Model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518309" y="2340131"/>
            <a:ext cx="77439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vibration system is modeled as a Mass‑Spring‑Damper system.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Equation of motion: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x'' + c x' + k x = F(t)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= mass, c = damping coefficient, k = stiffness, x = displacement.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518309" y="725951"/>
            <a:ext cx="77439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Method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518309" y="2340131"/>
            <a:ext cx="77439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32766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tools: MATLAB / Simulink or Python.</a:t>
            </a:r>
            <a:endParaRPr/>
          </a:p>
          <a:p>
            <a:pPr marL="342900" lvl="0" indent="-32766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/>
          </a:p>
          <a:p>
            <a:pPr marL="342900" lvl="0" indent="-32766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Create vibration model</a:t>
            </a:r>
            <a:endParaRPr/>
          </a:p>
          <a:p>
            <a:pPr marL="342900" lvl="0" indent="-32766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Apply external vibration forces</a:t>
            </a:r>
            <a:endParaRPr/>
          </a:p>
          <a:p>
            <a:pPr marL="342900" lvl="0" indent="-32766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Implement damping mechanisms</a:t>
            </a:r>
            <a:endParaRPr/>
          </a:p>
          <a:p>
            <a:pPr marL="342900" lvl="0" indent="-32766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Measure displacement and vibration reduction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518309" y="725951"/>
            <a:ext cx="77439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Results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518309" y="2340131"/>
            <a:ext cx="77439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damping – high oscillations occur.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damping – oscillations reduce quickly.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 damping improves drone stability.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518309" y="725951"/>
            <a:ext cx="77439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of Damping Methods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518309" y="2340131"/>
            <a:ext cx="77439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Rubber Dampers – medium efficiency, low cost.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Spring‑Damper System – high efficiency, effective vibration reduction.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Viscoelastic Materials – high efficiency but higher cost.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 title="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06875"/>
            <a:ext cx="8839200" cy="2969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4" title="2.jpeg"/>
          <p:cNvPicPr preferRelativeResize="0"/>
          <p:nvPr/>
        </p:nvPicPr>
        <p:blipFill rotWithShape="1">
          <a:blip r:embed="rId3">
            <a:alphaModFix/>
          </a:blip>
          <a:srcRect l="7310" t="14137" r="23315" b="9355"/>
          <a:stretch/>
        </p:blipFill>
        <p:spPr>
          <a:xfrm>
            <a:off x="791110" y="1078786"/>
            <a:ext cx="6061753" cy="5013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6" title="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721" y="677238"/>
            <a:ext cx="7378557" cy="550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8" title="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11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9" title="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6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1" title="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6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2" title="1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193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3" title="1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320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4" title="1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298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5" title="1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535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/>
        </p:nvSpPr>
        <p:spPr>
          <a:xfrm>
            <a:off x="368800" y="630925"/>
            <a:ext cx="8442900" cy="55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pic>
        <p:nvPicPr>
          <p:cNvPr id="196" name="Google Shape;1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4470"/>
            <a:ext cx="9144000" cy="3909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 txBox="1"/>
          <p:nvPr/>
        </p:nvSpPr>
        <p:spPr>
          <a:xfrm>
            <a:off x="262125" y="356600"/>
            <a:ext cx="8305800" cy="52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Simulation and evaluation of drone-related vibration control mechanisms involve modeling drone dynamics, analyzing, and reducing vibrations caused by propeller rotation and motor operation to improve flight stability, sensor accuracy, and image quality</a:t>
            </a:r>
            <a:endParaRPr sz="20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. Key methodologies include using Finite Element Method (FEM) to analyze structural resonances and designing passive (e.g., rubber mounts) or active (e.g., sliding mode controllers) damping systems to minimize vibration transmission. </a:t>
            </a:r>
            <a:endParaRPr sz="20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Key Findings in Simulation and Evaluation:</a:t>
            </a:r>
            <a:endParaRPr sz="20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Vibration Sources: Propellers are identified as the primary source of drone vibration. In-flight vibrations are typically higher in the horizontal plane than in the vertical plane.</a:t>
            </a:r>
            <a:endParaRPr sz="20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Impact on Performance: Uncontrolled vibrations can negatively affect the accuracy of onboard sensors (accelerometers/gyroscopes) and degrade communication system performance, especially at 5.8 GHz and 2.4 GHz frequencies.</a:t>
            </a:r>
            <a:endParaRPr sz="20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</a:t>
            </a:r>
            <a:endParaRPr sz="20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/>
          <p:nvPr/>
        </p:nvSpPr>
        <p:spPr>
          <a:xfrm>
            <a:off x="246900" y="432800"/>
            <a:ext cx="8519100" cy="54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Vibration Reduction Techniques:</a:t>
            </a: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    Passive Damping: A designed rubber-based passive isolation system was shown to reduce resonance frequency by 33%, acceleration resonance amplitude by 60%, and lift amplitude by 50%.</a:t>
            </a: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    Negative Stiffness: Incorporating Negative Stiffness Structure (NPS) can reduce motor/propeller vibration by up to 85.74% horizontally and 89.18% vertically during hovering.</a:t>
            </a: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    Active Control: A robust sliding mode controller (SMC) applied to a camera mount can manage uncertainties and hysteresis in actuators.</a:t>
            </a: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Simulation Tools: MATLAB/Simulink is widely used for modeling dynamics, while ANSYS is commonly used for structural vibration analysis.</a:t>
            </a: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Validation Methods: Experimental tests, such as shaking table tests, are used to validate the results from Finite Element Analysis (FEA). </a:t>
            </a: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Common Evaluation Metrics:</a:t>
            </a: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Symbol Error Rate (SER): Used to evaluate communication system performance under vibration.</a:t>
            </a: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Root Mean Square G-value (Grms): Used to measure overall vibration intensity.</a:t>
            </a: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Power Spectral Density (PSD): Used to analyze the frequency distribution of vibrations.</a:t>
            </a: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   Acceleration Amplitude: Used to measure the reduction in vibration intensity.</a:t>
            </a: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/>
        </p:nvSpPr>
        <p:spPr>
          <a:xfrm>
            <a:off x="170700" y="478525"/>
            <a:ext cx="87174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clc;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clear;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close all;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% System parameters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 = 1;      % Mass (kg)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 = 2;      % Damping coefficient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 = 20;     % Spring stiffness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% Time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 = 0:0.01:10;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% Initial conditions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x0 = 0.1;   % Initial displacement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v0 = 0;     % Initial velocity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% Differential equation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 = [0 1; -k/m -c/m];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 = [0; 1/m];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 = [1 0];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 = 0;</a:t>
            </a: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/>
        </p:nvSpPr>
        <p:spPr>
          <a:xfrm>
            <a:off x="124975" y="752850"/>
            <a:ext cx="87021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sys = ss(A,B,C,D);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% No external force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 = zeros(size(t));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% Simulation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[y,t,x] = lsim(sys,u,t,[x0 v0]);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% Plot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figure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plot(t,y,'LineWidth',2)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xlabel('Time (seconds)')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ylabel('Displacement (meters)')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title('Drone Vibration Response with Damping')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grid on MATLAB AI Overview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Simulation and evaluation of drone-related vibration control mechanisms involve modeling drone dynamics, analyzing, and reducing vibrations caused by propeller rotation and motor operation to improve flight stability, sensor accuracy, and image quality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. Key methodologies include using Finite Element Method (FEM) to analyze structural resonances and designing passive (e.g., rubber mounts) or active (e.g., sliding mode c</a:t>
            </a: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>
            <a:spLocks noGrp="1"/>
          </p:cNvSpPr>
          <p:nvPr>
            <p:ph type="title"/>
          </p:nvPr>
        </p:nvSpPr>
        <p:spPr>
          <a:xfrm>
            <a:off x="518309" y="725951"/>
            <a:ext cx="77439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40" name="Google Shape;240;p44"/>
          <p:cNvSpPr txBox="1">
            <a:spLocks noGrp="1"/>
          </p:cNvSpPr>
          <p:nvPr>
            <p:ph type="body" idx="1"/>
          </p:nvPr>
        </p:nvSpPr>
        <p:spPr>
          <a:xfrm>
            <a:off x="518309" y="2340131"/>
            <a:ext cx="77439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Vibration control mechanisms significantly reduce drone vibrations.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Spring‑damper systems provide better vibration suppression.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 damping improves drone stability, sensor accuracy, and performance.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982</Words>
  <Application>Microsoft Macintosh PowerPoint</Application>
  <PresentationFormat>On-screen Show (4:3)</PresentationFormat>
  <Paragraphs>104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Yellowtail</vt:lpstr>
      <vt:lpstr>IBM Plex Sans Condensed</vt:lpstr>
      <vt:lpstr>Archivo Narrow Medium</vt:lpstr>
      <vt:lpstr>Calibri</vt:lpstr>
      <vt:lpstr>Georgia</vt:lpstr>
      <vt:lpstr>Archivo Narrow</vt:lpstr>
      <vt:lpstr>Simple Light</vt:lpstr>
      <vt:lpstr>Simulation and Evaluation of a Drone‑Related Vibration Control Mechanism</vt:lpstr>
      <vt:lpstr>Aim</vt:lpstr>
      <vt:lpstr>Introduction</vt:lpstr>
      <vt:lpstr>Problem Statement</vt:lpstr>
      <vt:lpstr>Vibration Control Mechanisms</vt:lpstr>
      <vt:lpstr>Mathematical Model</vt:lpstr>
      <vt:lpstr>Simulation Method</vt:lpstr>
      <vt:lpstr>Simulation Results</vt:lpstr>
      <vt:lpstr>Comparison of Damping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 and Evaluation of a Drone‑Related Vibration Control Mechanism</dc:title>
  <cp:lastModifiedBy>Microsoft Office User</cp:lastModifiedBy>
  <cp:revision>1</cp:revision>
  <dcterms:modified xsi:type="dcterms:W3CDTF">2026-03-10T04:23:04Z</dcterms:modified>
</cp:coreProperties>
</file>